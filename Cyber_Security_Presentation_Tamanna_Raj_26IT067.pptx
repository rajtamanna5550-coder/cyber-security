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0" y="502920"/>
            <a:ext cx="4389120" cy="57150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tagon 2"/>
          <p:cNvSpPr/>
          <p:nvPr/>
        </p:nvSpPr>
        <p:spPr>
          <a:xfrm>
            <a:off x="8549640" y="1325880"/>
            <a:ext cx="1645920" cy="1828800"/>
          </a:xfrm>
          <a:prstGeom prst="homePlate">
            <a:avLst/>
          </a:prstGeom>
          <a:solidFill>
            <a:srgbClr val="124967"/>
          </a:solidFill>
          <a:ln w="31750">
            <a:solidFill>
              <a:srgbClr val="38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79408" y="2084831"/>
            <a:ext cx="786384" cy="685800"/>
          </a:xfrm>
          <a:prstGeom prst="roundRect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9098280" y="1737360"/>
            <a:ext cx="548640" cy="685800"/>
          </a:xfrm>
          <a:prstGeom prst="arc">
            <a:avLst/>
          </a:prstGeom>
          <a:noFill/>
          <a:ln w="50800">
            <a:solidFill>
              <a:srgbClr val="38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99448" y="2267712"/>
            <a:ext cx="146304" cy="146304"/>
          </a:xfrm>
          <a:prstGeom prst="ellipse">
            <a:avLst/>
          </a:prstGeom>
          <a:solidFill>
            <a:srgbClr val="0A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0" y="4023360"/>
            <a:ext cx="109728" cy="109728"/>
          </a:xfrm>
          <a:prstGeom prst="ellipse">
            <a:avLst/>
          </a:prstGeom>
          <a:solidFill>
            <a:srgbClr val="4B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0" y="4663440"/>
            <a:ext cx="109728" cy="109728"/>
          </a:xfrm>
          <a:prstGeom prst="ellipse">
            <a:avLst/>
          </a:prstGeom>
          <a:solidFill>
            <a:srgbClr val="4B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0" y="4114800"/>
            <a:ext cx="109728" cy="109728"/>
          </a:xfrm>
          <a:prstGeom prst="ellipse">
            <a:avLst/>
          </a:prstGeom>
          <a:solidFill>
            <a:srgbClr val="4B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4800600"/>
            <a:ext cx="109728" cy="109728"/>
          </a:xfrm>
          <a:prstGeom prst="ellipse">
            <a:avLst/>
          </a:prstGeom>
          <a:solidFill>
            <a:srgbClr val="4B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0" y="3840480"/>
            <a:ext cx="109728" cy="109728"/>
          </a:xfrm>
          <a:prstGeom prst="ellipse">
            <a:avLst/>
          </a:prstGeom>
          <a:solidFill>
            <a:srgbClr val="4B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5279" y="5303520"/>
            <a:ext cx="109728" cy="109728"/>
          </a:xfrm>
          <a:prstGeom prst="ellipse">
            <a:avLst/>
          </a:prstGeom>
          <a:solidFill>
            <a:srgbClr val="4B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0" y="3474720"/>
            <a:ext cx="109728" cy="109728"/>
          </a:xfrm>
          <a:prstGeom prst="ellipse">
            <a:avLst/>
          </a:prstGeom>
          <a:solidFill>
            <a:srgbClr val="4B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143000"/>
            <a:ext cx="5852160" cy="1508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3900" b="1">
                <a:solidFill>
                  <a:srgbClr val="F6F9FF"/>
                </a:solidFill>
                <a:latin typeface="Aptos"/>
              </a:rPr>
              <a:t>CYBER
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907792"/>
            <a:ext cx="5760720" cy="5943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2000" b="1">
                <a:solidFill>
                  <a:srgbClr val="38D9F0"/>
                </a:solidFill>
                <a:latin typeface="Aptos"/>
              </a:rPr>
              <a:t>Protecting systems, networks, and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22191"/>
            <a:ext cx="4754880" cy="3200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1">
                <a:solidFill>
                  <a:srgbClr val="BFCCE0"/>
                </a:solidFill>
                <a:latin typeface="Aptos"/>
              </a:rPr>
              <a:t>AI SUBJECT PRESENTATION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572000"/>
            <a:ext cx="5394960" cy="914400"/>
          </a:xfrm>
          <a:prstGeom prst="roundRect">
            <a:avLst/>
          </a:prstGeom>
          <a:solidFill>
            <a:srgbClr val="111F35"/>
          </a:solidFill>
          <a:ln w="16510"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736592"/>
            <a:ext cx="4846320" cy="56692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500" b="0">
                <a:solidFill>
                  <a:srgbClr val="F6F9FF"/>
                </a:solidFill>
                <a:latin typeface="Aptos"/>
              </a:rPr>
              <a:t>Submitted by: Tamanna Raj
Enrollment No.: 26IT067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r"/>
            <a:r>
              <a:rPr sz="1000" b="0">
                <a:solidFill>
                  <a:srgbClr val="BFCCE0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What Is Cybersecurity?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68680" cy="50292"/>
          </a:xfrm>
          <a:prstGeom prst="rect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The foundation of digital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r"/>
            <a:r>
              <a:rPr sz="1000" b="0">
                <a:solidFill>
                  <a:srgbClr val="BFCCE0"/>
                </a:solidFill>
                <a:latin typeface="Aptos"/>
              </a:rPr>
              <a:t>02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6537960" cy="38862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5669280" cy="45720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2500" b="1">
                <a:solidFill>
                  <a:srgbClr val="38D9F0"/>
                </a:solidFill>
                <a:latin typeface="Aptos"/>
              </a:rPr>
              <a:t>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5577840" cy="118872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2100" b="0">
                <a:solidFill>
                  <a:srgbClr val="F6F9FF"/>
                </a:solidFill>
                <a:latin typeface="Aptos"/>
              </a:rPr>
              <a:t>is the practice of protecting computers, servers, networks, applications, and data from digital attacks, damage, or unauthorized 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43400"/>
            <a:ext cx="5486400" cy="8229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BFCCE0"/>
                </a:solidFill>
                <a:latin typeface="Aptos"/>
              </a:rPr>
              <a:t>Its goal is to keep information confidential, accurate, and available to authorized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423160"/>
            <a:ext cx="2331720" cy="1600200"/>
          </a:xfrm>
          <a:prstGeom prst="roundRect">
            <a:avLst/>
          </a:prstGeom>
          <a:solidFill>
            <a:srgbClr val="1D2F4B"/>
          </a:solidFill>
          <a:ln w="16510">
            <a:solidFill>
              <a:srgbClr val="38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58200" y="2651760"/>
            <a:ext cx="1874519" cy="1097280"/>
          </a:xfrm>
          <a:prstGeom prst="roundRect">
            <a:avLst/>
          </a:prstGeom>
          <a:solidFill>
            <a:srgbClr val="0A1224"/>
          </a:solidFill>
          <a:ln w="16510">
            <a:solidFill>
              <a:srgbClr val="4B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990088"/>
            <a:ext cx="1874519" cy="3200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800" b="1">
                <a:solidFill>
                  <a:srgbClr val="41DCA6"/>
                </a:solidFill>
                <a:latin typeface="Aptos"/>
              </a:rPr>
              <a:t>SECURE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4096512"/>
            <a:ext cx="2971800" cy="164592"/>
          </a:xfrm>
          <a:prstGeom prst="roundRect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4709160"/>
            <a:ext cx="3657600" cy="5486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500" b="1">
                <a:solidFill>
                  <a:srgbClr val="F6F9FF"/>
                </a:solidFill>
                <a:latin typeface="Aptos"/>
              </a:rPr>
              <a:t>People  •  Process  • 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The Three Goals: CIA Triad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68680" cy="50292"/>
          </a:xfrm>
          <a:prstGeom prst="rect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A core model used to think about information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r"/>
            <a:r>
              <a:rPr sz="1000" b="0">
                <a:solidFill>
                  <a:srgbClr val="BFCCE0"/>
                </a:solidFill>
                <a:latin typeface="Aptos"/>
              </a:rPr>
              <a:t>03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3429000" cy="29718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2423160"/>
            <a:ext cx="960120" cy="960120"/>
          </a:xfrm>
          <a:prstGeom prst="ellipse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532888"/>
            <a:ext cx="960120" cy="5943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2800" b="1">
                <a:solidFill>
                  <a:srgbClr val="0A1224"/>
                </a:solidFill>
                <a:latin typeface="Aptos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97180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F6F9FF"/>
                </a:solidFill>
                <a:latin typeface="Aptos"/>
              </a:rPr>
              <a:t>CONFIDENTIALITY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2788920" cy="6400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400" b="0">
                <a:solidFill>
                  <a:srgbClr val="BFCCE0"/>
                </a:solidFill>
                <a:latin typeface="Aptos"/>
              </a:rPr>
              <a:t>Only authorized people can view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9431" y="2057400"/>
            <a:ext cx="3429000" cy="29718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33871" y="2423160"/>
            <a:ext cx="960120" cy="960120"/>
          </a:xfrm>
          <a:prstGeom prst="ellipse">
            <a:avLst/>
          </a:prstGeom>
          <a:solidFill>
            <a:srgbClr val="4B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1" y="2532888"/>
            <a:ext cx="960120" cy="5943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2800" b="1">
                <a:solidFill>
                  <a:srgbClr val="0A1224"/>
                </a:solidFill>
                <a:latin typeface="Aptos"/>
              </a:rP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3657600"/>
            <a:ext cx="297180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F6F9FF"/>
                </a:solidFill>
                <a:latin typeface="Aptos"/>
              </a:rPr>
              <a:t>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1" y="4160520"/>
            <a:ext cx="2788920" cy="6400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400" b="0">
                <a:solidFill>
                  <a:srgbClr val="BFCCE0"/>
                </a:solidFill>
                <a:latin typeface="Aptos"/>
              </a:rPr>
              <a:t>Information stays accurate and unaltered.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21624" y="2057400"/>
            <a:ext cx="3429000" cy="29718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56063" y="2423160"/>
            <a:ext cx="960120" cy="960120"/>
          </a:xfrm>
          <a:prstGeom prst="ellipse">
            <a:avLst/>
          </a:prstGeom>
          <a:solidFill>
            <a:srgbClr val="41D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6063" y="2532888"/>
            <a:ext cx="960120" cy="5943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2800" b="1">
                <a:solidFill>
                  <a:srgbClr val="0A1224"/>
                </a:solidFill>
                <a:latin typeface="Aptos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3657600"/>
            <a:ext cx="297180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F6F9FF"/>
                </a:solidFill>
                <a:latin typeface="Aptos"/>
              </a:rPr>
              <a:t>AVAILABILITY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3" y="4160520"/>
            <a:ext cx="2788920" cy="6400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400" b="0">
                <a:solidFill>
                  <a:srgbClr val="BFCCE0"/>
                </a:solidFill>
                <a:latin typeface="Aptos"/>
              </a:rPr>
              <a:t>Systems and data are accessible when needed.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1024128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700" b="1">
                <a:solidFill>
                  <a:srgbClr val="38D9F0"/>
                </a:solidFill>
                <a:latin typeface="Aptos"/>
              </a:rPr>
              <a:t>Good security balances all three goals.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Common Cybersecurity Threats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68680" cy="50292"/>
          </a:xfrm>
          <a:prstGeom prst="rect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Recognize the risks before they cause harm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r"/>
            <a:r>
              <a:rPr sz="1000" b="0">
                <a:solidFill>
                  <a:srgbClr val="BFCCE0"/>
                </a:solidFill>
                <a:latin typeface="Aptos"/>
              </a:rPr>
              <a:t>04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66360" cy="155448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57400"/>
            <a:ext cx="457200" cy="457200"/>
          </a:xfrm>
          <a:prstGeom prst="ellipse">
            <a:avLst/>
          </a:prstGeom>
          <a:solidFill>
            <a:srgbClr val="FFA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75688"/>
            <a:ext cx="457200" cy="38404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1500" b="1">
                <a:solidFill>
                  <a:srgbClr val="0A122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075688"/>
            <a:ext cx="4178808" cy="329184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PHISHING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9191"/>
            <a:ext cx="4709160" cy="65836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Fake emails or messages that trick people into sharing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74519"/>
            <a:ext cx="5166360" cy="155448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0527" y="2057400"/>
            <a:ext cx="457200" cy="457200"/>
          </a:xfrm>
          <a:prstGeom prst="ellipse">
            <a:avLst/>
          </a:prstGeom>
          <a:solidFill>
            <a:srgbClr val="FF6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7" y="2075688"/>
            <a:ext cx="457200" cy="38404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1500" b="1">
                <a:solidFill>
                  <a:srgbClr val="0A1224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1" y="2075688"/>
            <a:ext cx="4178808" cy="329184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MALWARE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679191"/>
            <a:ext cx="4709160" cy="65836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Harmful software, including viruses, spyware, and ransomware.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5166360" cy="155448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3931920"/>
            <a:ext cx="457200" cy="457200"/>
          </a:xfrm>
          <a:prstGeom prst="ellipse">
            <a:avLst/>
          </a:prstGeom>
          <a:solidFill>
            <a:srgbClr val="B1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950207"/>
            <a:ext cx="457200" cy="38404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1500" b="1">
                <a:solidFill>
                  <a:srgbClr val="0A1224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950207"/>
            <a:ext cx="4178808" cy="329184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PASSWORD ATTACKS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53712"/>
            <a:ext cx="4709160" cy="65836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Guessing or stealing credentials to access accounts.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749039"/>
            <a:ext cx="5166360" cy="155448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10527" y="3931920"/>
            <a:ext cx="457200" cy="457200"/>
          </a:xfrm>
          <a:prstGeom prst="ellipse">
            <a:avLst/>
          </a:prstGeom>
          <a:solidFill>
            <a:srgbClr val="4B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7" y="3950207"/>
            <a:ext cx="457200" cy="38404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1500" b="1">
                <a:solidFill>
                  <a:srgbClr val="0A1224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1" y="3950207"/>
            <a:ext cx="4178808" cy="329184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SOCIAL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4553712"/>
            <a:ext cx="4709160" cy="65836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Manipulating people into revealing secrets or taking unsafe actions.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400" b="0">
                <a:solidFill>
                  <a:srgbClr val="BFCCE0"/>
                </a:solidFill>
                <a:latin typeface="Aptos"/>
              </a:rPr>
              <a:t>Many attacks begin with a simple mistake or a convincing message.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Phishing: A Common Attack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68680" cy="50292"/>
          </a:xfrm>
          <a:prstGeom prst="rect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Check the message carefully before clicking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r"/>
            <a:r>
              <a:rPr sz="1000" b="0">
                <a:solidFill>
                  <a:srgbClr val="BFCCE0"/>
                </a:solidFill>
                <a:latin typeface="Aptos"/>
              </a:rPr>
              <a:t>05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3977639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700" b="1">
                <a:solidFill>
                  <a:srgbClr val="FFAB54"/>
                </a:solidFill>
                <a:latin typeface="Aptos"/>
              </a:rPr>
              <a:t>Example of a suspicious message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697480"/>
            <a:ext cx="4617720" cy="2423160"/>
          </a:xfrm>
          <a:prstGeom prst="roundRect">
            <a:avLst/>
          </a:prstGeom>
          <a:solidFill>
            <a:srgbClr val="242B3D"/>
          </a:solidFill>
          <a:ln w="16510">
            <a:solidFill>
              <a:srgbClr val="785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926080"/>
            <a:ext cx="4160520" cy="4114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URGENT: Your account will close today!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66160"/>
            <a:ext cx="4069080" cy="68580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400" b="0">
                <a:solidFill>
                  <a:srgbClr val="BFCCE0"/>
                </a:solidFill>
                <a:latin typeface="Aptos"/>
              </a:rPr>
              <a:t>Click this unknown link and enter your password to keep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4434840"/>
            <a:ext cx="2148840" cy="438912"/>
          </a:xfrm>
          <a:prstGeom prst="roundRect">
            <a:avLst/>
          </a:prstGeom>
          <a:solidFill>
            <a:srgbClr val="FFA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489704"/>
            <a:ext cx="2148840" cy="25603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300" b="1">
                <a:solidFill>
                  <a:srgbClr val="0A1224"/>
                </a:solidFill>
                <a:latin typeface="Aptos"/>
              </a:rPr>
              <a:t>VERIFY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4389120" cy="4114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2100" b="1">
                <a:solidFill>
                  <a:srgbClr val="38D9F0"/>
                </a:solidFill>
                <a:latin typeface="Aptos"/>
              </a:rPr>
              <a:t>Warning signs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2834640"/>
            <a:ext cx="109728" cy="109728"/>
          </a:xfrm>
          <a:prstGeom prst="ellipse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4264" y="2743200"/>
            <a:ext cx="4425696" cy="62179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Unexpected urgency or threats</a:t>
            </a:r>
          </a:p>
        </p:txBody>
      </p:sp>
      <p:sp>
        <p:nvSpPr>
          <p:cNvPr id="16" name="Oval 15"/>
          <p:cNvSpPr/>
          <p:nvPr/>
        </p:nvSpPr>
        <p:spPr>
          <a:xfrm>
            <a:off x="6446520" y="3493008"/>
            <a:ext cx="109728" cy="109728"/>
          </a:xfrm>
          <a:prstGeom prst="ellipse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4264" y="3401568"/>
            <a:ext cx="4425696" cy="62179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Unknown sender or strange address</a:t>
            </a:r>
          </a:p>
        </p:txBody>
      </p:sp>
      <p:sp>
        <p:nvSpPr>
          <p:cNvPr id="18" name="Oval 17"/>
          <p:cNvSpPr/>
          <p:nvPr/>
        </p:nvSpPr>
        <p:spPr>
          <a:xfrm>
            <a:off x="6446520" y="4151375"/>
            <a:ext cx="109728" cy="109728"/>
          </a:xfrm>
          <a:prstGeom prst="ellipse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84264" y="4059935"/>
            <a:ext cx="4425696" cy="62179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Links that do not match the real website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4809744"/>
            <a:ext cx="109728" cy="109728"/>
          </a:xfrm>
          <a:prstGeom prst="ellipse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4718304"/>
            <a:ext cx="4425696" cy="62179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Requests for passwords or one-time codes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577840"/>
            <a:ext cx="4663440" cy="4114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400" b="1">
                <a:solidFill>
                  <a:srgbClr val="41DCA6"/>
                </a:solidFill>
                <a:latin typeface="Aptos"/>
              </a:rPr>
              <a:t>When unsure, do not click. Visit the official website directly.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Everyday Cyber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68680" cy="50292"/>
          </a:xfrm>
          <a:prstGeom prst="rect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Simple habits make accounts much harder to compromise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r"/>
            <a:r>
              <a:rPr sz="1000" b="0">
                <a:solidFill>
                  <a:srgbClr val="BFCCE0"/>
                </a:solidFill>
                <a:latin typeface="Aptos"/>
              </a:rPr>
              <a:t>06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16002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2011680"/>
            <a:ext cx="457200" cy="457200"/>
          </a:xfrm>
          <a:prstGeom prst="ellipse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29968"/>
            <a:ext cx="457200" cy="38404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1500" b="1">
                <a:solidFill>
                  <a:srgbClr val="0A122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2029968"/>
            <a:ext cx="2487168" cy="329184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STRONG PASSWORDS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3017520" cy="70408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Use long, unique passwords; a password manager can help.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828800"/>
            <a:ext cx="3474720" cy="16002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59" y="2011680"/>
            <a:ext cx="457200" cy="457200"/>
          </a:xfrm>
          <a:prstGeom prst="ellipse">
            <a:avLst/>
          </a:prstGeom>
          <a:solidFill>
            <a:srgbClr val="4B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029968"/>
            <a:ext cx="457200" cy="38404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1500" b="1">
                <a:solidFill>
                  <a:srgbClr val="0A1224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2029968"/>
            <a:ext cx="2487168" cy="329184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MULTI-FACTOR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633472"/>
            <a:ext cx="3017520" cy="70408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Add a second verification step when available.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0183" y="1828800"/>
            <a:ext cx="3474720" cy="16002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31352" y="2011680"/>
            <a:ext cx="457200" cy="457200"/>
          </a:xfrm>
          <a:prstGeom prst="ellipse">
            <a:avLst/>
          </a:prstGeom>
          <a:solidFill>
            <a:srgbClr val="41D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2029968"/>
            <a:ext cx="457200" cy="38404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1500" b="1">
                <a:solidFill>
                  <a:srgbClr val="0A1224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029968"/>
            <a:ext cx="2487168" cy="329184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2633472"/>
            <a:ext cx="3017520" cy="70408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Keep your operating system, browser, and apps updated.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03320"/>
            <a:ext cx="3474720" cy="16002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968" y="3886200"/>
            <a:ext cx="457200" cy="457200"/>
          </a:xfrm>
          <a:prstGeom prst="ellipse">
            <a:avLst/>
          </a:prstGeom>
          <a:solidFill>
            <a:srgbClr val="B1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904487"/>
            <a:ext cx="457200" cy="38404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1500" b="1">
                <a:solidFill>
                  <a:srgbClr val="0A1224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0472" y="3904487"/>
            <a:ext cx="2487168" cy="329184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BACKUPS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07992"/>
            <a:ext cx="3017520" cy="70408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Keep important copies in a separate or secure location.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7992" y="3703320"/>
            <a:ext cx="3474720" cy="16002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09159" y="3886200"/>
            <a:ext cx="457200" cy="457200"/>
          </a:xfrm>
          <a:prstGeom prst="ellipse">
            <a:avLst/>
          </a:prstGeom>
          <a:solidFill>
            <a:srgbClr val="FFA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3904487"/>
            <a:ext cx="457200" cy="38404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1500" b="1">
                <a:solidFill>
                  <a:srgbClr val="0A1224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12664" y="3904487"/>
            <a:ext cx="2487168" cy="329184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SCREEN 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4507992"/>
            <a:ext cx="3017520" cy="70408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Lock devices and sign out of shared computers.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30183" y="3703320"/>
            <a:ext cx="3474720" cy="16002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31352" y="3886200"/>
            <a:ext cx="457200" cy="457200"/>
          </a:xfrm>
          <a:prstGeom prst="ellipse">
            <a:avLst/>
          </a:prstGeom>
          <a:solidFill>
            <a:srgbClr val="FF6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31352" y="3904487"/>
            <a:ext cx="457200" cy="38404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1500" b="1">
                <a:solidFill>
                  <a:srgbClr val="0A1224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856" y="3904487"/>
            <a:ext cx="2487168" cy="329184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1">
                <a:solidFill>
                  <a:srgbClr val="F6F9FF"/>
                </a:solidFill>
                <a:latin typeface="Aptos"/>
              </a:rPr>
              <a:t>THINK BEFORE SHARING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8784" y="4507992"/>
            <a:ext cx="3017520" cy="70408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Limit personal details and check privacy settings.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Protecting Devices, Networks &amp;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68680" cy="50292"/>
          </a:xfrm>
          <a:prstGeom prst="rect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Security is a combination of tools and good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r"/>
            <a:r>
              <a:rPr sz="1000" b="0">
                <a:solidFill>
                  <a:srgbClr val="BFCCE0"/>
                </a:solidFill>
                <a:latin typeface="Aptos"/>
              </a:rPr>
              <a:t>07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120640" cy="38862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389120" cy="4114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2100" b="1">
                <a:solidFill>
                  <a:srgbClr val="38D9F0"/>
                </a:solidFill>
                <a:latin typeface="Aptos"/>
              </a:rPr>
              <a:t>Useful protections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971800"/>
            <a:ext cx="109728" cy="109728"/>
          </a:xfrm>
          <a:prstGeom prst="ellipse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5024" y="2880360"/>
            <a:ext cx="4151376" cy="62179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Firewall filters network traffic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630168"/>
            <a:ext cx="109728" cy="109728"/>
          </a:xfrm>
          <a:prstGeom prst="ellipse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5024" y="3538728"/>
            <a:ext cx="4151376" cy="62179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Antivirus / endpoint tools detect threats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4288536"/>
            <a:ext cx="109728" cy="109728"/>
          </a:xfrm>
          <a:prstGeom prst="ellipse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5024" y="4197096"/>
            <a:ext cx="4151376" cy="62179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Encryption makes data unreadable without a key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946904"/>
            <a:ext cx="109728" cy="109728"/>
          </a:xfrm>
          <a:prstGeom prst="ellipse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5024" y="4855464"/>
            <a:ext cx="4151376" cy="62179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Secure Wi-Fi with strong router settings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74519"/>
            <a:ext cx="5166360" cy="38862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4389120" cy="4114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2100" b="1">
                <a:solidFill>
                  <a:srgbClr val="41DCA6"/>
                </a:solidFill>
                <a:latin typeface="Aptos"/>
              </a:rPr>
              <a:t>On public Wi-Fi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2971800"/>
            <a:ext cx="109728" cy="109728"/>
          </a:xfrm>
          <a:prstGeom prst="ellipse">
            <a:avLst/>
          </a:prstGeom>
          <a:solidFill>
            <a:srgbClr val="41D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75704" y="2880360"/>
            <a:ext cx="4151376" cy="62179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Avoid sensitive activity on untrusted networks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3630168"/>
            <a:ext cx="109728" cy="109728"/>
          </a:xfrm>
          <a:prstGeom prst="ellipse">
            <a:avLst/>
          </a:prstGeom>
          <a:solidFill>
            <a:srgbClr val="41D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75704" y="3538728"/>
            <a:ext cx="4151376" cy="62179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Use HTTPS websites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4288536"/>
            <a:ext cx="109728" cy="109728"/>
          </a:xfrm>
          <a:prstGeom prst="ellipse">
            <a:avLst/>
          </a:prstGeom>
          <a:solidFill>
            <a:srgbClr val="41D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5704" y="4197096"/>
            <a:ext cx="4151376" cy="62179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Turn off automatic connection to unknown Wi-Fi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4946904"/>
            <a:ext cx="109728" cy="109728"/>
          </a:xfrm>
          <a:prstGeom prst="ellipse">
            <a:avLst/>
          </a:prstGeom>
          <a:solidFill>
            <a:srgbClr val="41D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5704" y="4855464"/>
            <a:ext cx="4151376" cy="621792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Use your organization's approved VPN if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500" b="0">
                <a:solidFill>
                  <a:srgbClr val="BFCCE0"/>
                </a:solidFill>
                <a:latin typeface="Aptos"/>
              </a:rPr>
              <a:t>No single tool is perfect: combine layers of protection.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Cybersecurity for IT Students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68680" cy="50292"/>
          </a:xfrm>
          <a:prstGeom prst="rect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Build secure habits into projects and practical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r"/>
            <a:r>
              <a:rPr sz="1000" b="0">
                <a:solidFill>
                  <a:srgbClr val="BFCCE0"/>
                </a:solidFill>
                <a:latin typeface="Aptos"/>
              </a:rPr>
              <a:t>08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10424160" cy="749808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039112"/>
            <a:ext cx="384048" cy="384048"/>
          </a:xfrm>
          <a:prstGeom prst="ellipse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39112"/>
            <a:ext cx="384048" cy="31089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0A122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11679"/>
            <a:ext cx="2286000" cy="29260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500" b="1">
                <a:solidFill>
                  <a:srgbClr val="38D9F0"/>
                </a:solidFill>
                <a:latin typeface="Aptos"/>
              </a:rPr>
              <a:t>VALIDATE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993391"/>
            <a:ext cx="6766560" cy="4114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500" b="0">
                <a:solidFill>
                  <a:srgbClr val="F6F9FF"/>
                </a:solidFill>
                <a:latin typeface="Aptos"/>
              </a:rPr>
              <a:t>Check and sanitize user input to reduce injection risks.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07208"/>
            <a:ext cx="10424160" cy="749808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971800"/>
            <a:ext cx="384048" cy="384048"/>
          </a:xfrm>
          <a:prstGeom prst="ellipse">
            <a:avLst/>
          </a:prstGeom>
          <a:solidFill>
            <a:srgbClr val="B1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71800"/>
            <a:ext cx="384048" cy="31089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0A1224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944368"/>
            <a:ext cx="2286000" cy="29260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500" b="1">
                <a:solidFill>
                  <a:srgbClr val="B18EFF"/>
                </a:solidFill>
                <a:latin typeface="Aptos"/>
              </a:rPr>
              <a:t>PROTECT SECRETS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926079"/>
            <a:ext cx="6766560" cy="4114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500" b="0">
                <a:solidFill>
                  <a:srgbClr val="F6F9FF"/>
                </a:solidFill>
                <a:latin typeface="Aptos"/>
              </a:rPr>
              <a:t>Never publish passwords, API keys, or tokens in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39896"/>
            <a:ext cx="10424160" cy="749808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3904487"/>
            <a:ext cx="384048" cy="384048"/>
          </a:xfrm>
          <a:prstGeom prst="ellipse">
            <a:avLst/>
          </a:prstGeom>
          <a:solidFill>
            <a:srgbClr val="41D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04487"/>
            <a:ext cx="384048" cy="31089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0A1224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877056"/>
            <a:ext cx="2286000" cy="29260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500" b="1">
                <a:solidFill>
                  <a:srgbClr val="41DCA6"/>
                </a:solidFill>
                <a:latin typeface="Aptos"/>
              </a:rPr>
              <a:t>LEAST PRIVILEGE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858768"/>
            <a:ext cx="6766560" cy="4114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500" b="0">
                <a:solidFill>
                  <a:srgbClr val="F6F9FF"/>
                </a:solidFill>
                <a:latin typeface="Aptos"/>
              </a:rPr>
              <a:t>Give users and programs only the access they need.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672583"/>
            <a:ext cx="10424160" cy="749808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" y="4837175"/>
            <a:ext cx="384048" cy="384048"/>
          </a:xfrm>
          <a:prstGeom prst="ellipse">
            <a:avLst/>
          </a:prstGeom>
          <a:solidFill>
            <a:srgbClr val="FFA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837175"/>
            <a:ext cx="384048" cy="310896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0A1224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809744"/>
            <a:ext cx="2286000" cy="29260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500" b="1">
                <a:solidFill>
                  <a:srgbClr val="FFAB54"/>
                </a:solidFill>
                <a:latin typeface="Aptos"/>
              </a:rPr>
              <a:t>TEST SAFELY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791455"/>
            <a:ext cx="6766560" cy="4114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500" b="0">
                <a:solidFill>
                  <a:srgbClr val="F6F9FF"/>
                </a:solidFill>
                <a:latin typeface="Aptos"/>
              </a:rPr>
              <a:t>Practice only in authorized labs and systems.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97880"/>
            <a:ext cx="1024128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38D9F0"/>
                </a:solidFill>
                <a:latin typeface="Aptos"/>
              </a:rPr>
              <a:t>Ethical rule: get permission before testing any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66928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2900" b="1">
                <a:solidFill>
                  <a:srgbClr val="F6F9FF"/>
                </a:solidFill>
                <a:latin typeface="Aptos"/>
              </a:rPr>
              <a:t>What to Do If You Suspect an Attack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868680" cy="50292"/>
          </a:xfrm>
          <a:prstGeom prst="rect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300" b="0">
                <a:solidFill>
                  <a:srgbClr val="BFCCE0"/>
                </a:solidFill>
                <a:latin typeface="Aptos"/>
              </a:rPr>
              <a:t>Respond quickly, but avoid making the problem worse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r"/>
            <a:r>
              <a:rPr sz="1000" b="0">
                <a:solidFill>
                  <a:srgbClr val="BFCCE0"/>
                </a:solidFill>
                <a:latin typeface="Aptos"/>
              </a:rPr>
              <a:t>09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2468880" cy="25146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1920240"/>
            <a:ext cx="731520" cy="731520"/>
          </a:xfrm>
          <a:prstGeom prst="ellipse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011680"/>
            <a:ext cx="731520" cy="4572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2200" b="1">
                <a:solidFill>
                  <a:srgbClr val="0A122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10312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F6F9FF"/>
                </a:solidFill>
                <a:latin typeface="Aptos"/>
              </a:rPr>
              <a:t>STOP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2011680" cy="91440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300" b="0">
                <a:solidFill>
                  <a:srgbClr val="BFCCE0"/>
                </a:solidFill>
                <a:latin typeface="Aptos"/>
              </a:rPr>
              <a:t>Do not click further links or reply to suspicious messages.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240280"/>
            <a:ext cx="2468880" cy="25146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920240"/>
            <a:ext cx="731520" cy="731520"/>
          </a:xfrm>
          <a:prstGeom prst="ellipse">
            <a:avLst/>
          </a:prstGeom>
          <a:solidFill>
            <a:srgbClr val="4B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731520" cy="4572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2200" b="1">
                <a:solidFill>
                  <a:srgbClr val="0A1224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971800"/>
            <a:ext cx="210312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F6F9FF"/>
                </a:solidFill>
                <a:latin typeface="Aptos"/>
              </a:rPr>
              <a:t>DISCONNECT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20440"/>
            <a:ext cx="2011680" cy="91440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300" b="0">
                <a:solidFill>
                  <a:srgbClr val="BFCCE0"/>
                </a:solidFill>
                <a:latin typeface="Aptos"/>
              </a:rPr>
              <a:t>If malware is suspected, disconnect the affected device from the network when safe.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240280"/>
            <a:ext cx="2468880" cy="25146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60919" y="1920240"/>
            <a:ext cx="731520" cy="731520"/>
          </a:xfrm>
          <a:prstGeom prst="ellipse">
            <a:avLst/>
          </a:prstGeom>
          <a:solidFill>
            <a:srgbClr val="B1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19" y="2011680"/>
            <a:ext cx="731520" cy="4572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2200" b="1">
                <a:solidFill>
                  <a:srgbClr val="0A1224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971800"/>
            <a:ext cx="210312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F6F9FF"/>
                </a:solidFill>
                <a:latin typeface="Aptos"/>
              </a:rPr>
              <a:t>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520440"/>
            <a:ext cx="2011680" cy="91440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300" b="0">
                <a:solidFill>
                  <a:srgbClr val="BFCCE0"/>
                </a:solidFill>
                <a:latin typeface="Aptos"/>
              </a:rPr>
              <a:t>Contact your IT support, school, bank, or relevant service provider.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2240280"/>
            <a:ext cx="2468880" cy="251460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0" y="1920240"/>
            <a:ext cx="731520" cy="731520"/>
          </a:xfrm>
          <a:prstGeom prst="ellipse">
            <a:avLst/>
          </a:prstGeom>
          <a:solidFill>
            <a:srgbClr val="41D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2011680"/>
            <a:ext cx="731520" cy="4572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spAutoFit/>
          </a:bodyPr>
          <a:lstStyle/>
          <a:p>
            <a:pPr algn="ctr"/>
            <a:r>
              <a:rPr sz="2200" b="1">
                <a:solidFill>
                  <a:srgbClr val="0A1224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971800"/>
            <a:ext cx="2103120" cy="36576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F6F9FF"/>
                </a:solidFill>
                <a:latin typeface="Aptos"/>
              </a:rPr>
              <a:t>SECURE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520440"/>
            <a:ext cx="2011680" cy="91440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300" b="0">
                <a:solidFill>
                  <a:srgbClr val="BFCCE0"/>
                </a:solidFill>
                <a:latin typeface="Aptos"/>
              </a:rPr>
              <a:t>Change compromised passwords from a trusted device and enable MFA.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38D9F0"/>
                </a:solidFill>
                <a:latin typeface="Aptos"/>
              </a:rPr>
              <a:t>Keep evidence, follow official guidance, and report promptly.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0744200" cy="5623560"/>
          </a:xfrm>
          <a:prstGeom prst="round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9875520" cy="4114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600" b="1">
                <a:solidFill>
                  <a:srgbClr val="38D9F0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691640"/>
            <a:ext cx="9692640" cy="12344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3100" b="1">
                <a:solidFill>
                  <a:srgbClr val="F6F9FF"/>
                </a:solidFill>
                <a:latin typeface="Aptos"/>
              </a:rPr>
              <a:t>Stay alert. Stay updated.
Protect your digital life.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3429000"/>
            <a:ext cx="109728" cy="109728"/>
          </a:xfrm>
          <a:prstGeom prst="ellipse">
            <a:avLst/>
          </a:prstGeom>
          <a:solidFill>
            <a:srgbClr val="41D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3744" y="3337560"/>
            <a:ext cx="7626096" cy="466344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Use unique passwords and multi-factor authentication</a:t>
            </a:r>
          </a:p>
        </p:txBody>
      </p:sp>
      <p:sp>
        <p:nvSpPr>
          <p:cNvPr id="7" name="Oval 6"/>
          <p:cNvSpPr/>
          <p:nvPr/>
        </p:nvSpPr>
        <p:spPr>
          <a:xfrm>
            <a:off x="2286000" y="3931920"/>
            <a:ext cx="109728" cy="109728"/>
          </a:xfrm>
          <a:prstGeom prst="ellipse">
            <a:avLst/>
          </a:prstGeom>
          <a:solidFill>
            <a:srgbClr val="41D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23744" y="3840480"/>
            <a:ext cx="7626096" cy="466344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Recognize phishing and protect personal data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4434840"/>
            <a:ext cx="109728" cy="109728"/>
          </a:xfrm>
          <a:prstGeom prst="ellipse">
            <a:avLst/>
          </a:prstGeom>
          <a:solidFill>
            <a:srgbClr val="41D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4" y="4343400"/>
            <a:ext cx="7626096" cy="466344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l"/>
            <a:r>
              <a:rPr sz="1600" b="0">
                <a:solidFill>
                  <a:srgbClr val="F6F9FF"/>
                </a:solidFill>
                <a:latin typeface="Aptos"/>
              </a:rPr>
              <a:t>Use technology ethically and report incidents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166360"/>
            <a:ext cx="3931920" cy="594360"/>
          </a:xfrm>
          <a:prstGeom prst="roundRect">
            <a:avLst/>
          </a:prstGeom>
          <a:solidFill>
            <a:srgbClr val="3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5285232"/>
            <a:ext cx="3931920" cy="32004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500" b="1">
                <a:solidFill>
                  <a:srgbClr val="0A1224"/>
                </a:solidFill>
                <a:latin typeface="Aptos"/>
              </a:rPr>
              <a:t>THANK YOU  •  QUESTIONS?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89320"/>
            <a:ext cx="8595360" cy="27432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ctr"/>
            <a:r>
              <a:rPr sz="1200" b="0">
                <a:solidFill>
                  <a:srgbClr val="BFCCE0"/>
                </a:solidFill>
                <a:latin typeface="Aptos"/>
              </a:rPr>
              <a:t>Submitted by: Tamanna Raj  |  Enrollment No.: 26IT067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14400" cy="182880"/>
          </a:xfrm>
          <a:prstGeom prst="rect">
            <a:avLst/>
          </a:prstGeom>
          <a:noFill/>
        </p:spPr>
        <p:txBody>
          <a:bodyPr wrap="square" lIns="36576" rIns="36576" tIns="22860" bIns="22860" anchor="t">
            <a:spAutoFit/>
          </a:bodyPr>
          <a:lstStyle/>
          <a:p>
            <a:pPr algn="r"/>
            <a:r>
              <a:rPr sz="1000" b="0">
                <a:solidFill>
                  <a:srgbClr val="BFCCE0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